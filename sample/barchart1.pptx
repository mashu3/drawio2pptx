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134725" cy="7877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723"/>
          <p:cNvSpPr/>
          <p:nvPr/>
        </p:nvSpPr>
        <p:spPr>
          <a:xfrm>
            <a:off x="1519237" y="6072187"/>
            <a:ext cx="1143000" cy="1238250"/>
          </a:xfrm>
          <a:prstGeom prst="rect">
            <a:avLst/>
          </a:prstGeom>
          <a:solidFill>
            <a:srgbClr val="12A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724"/>
          <p:cNvSpPr/>
          <p:nvPr/>
        </p:nvSpPr>
        <p:spPr>
          <a:xfrm>
            <a:off x="3424237" y="6834187"/>
            <a:ext cx="1143000" cy="476250"/>
          </a:xfrm>
          <a:prstGeom prst="rect">
            <a:avLst/>
          </a:prstGeom>
          <a:solidFill>
            <a:srgbClr val="12A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rawio2pptx:shape:725"/>
          <p:cNvSpPr/>
          <p:nvPr/>
        </p:nvSpPr>
        <p:spPr>
          <a:xfrm>
            <a:off x="5329237" y="6357937"/>
            <a:ext cx="1143000" cy="952500"/>
          </a:xfrm>
          <a:prstGeom prst="rect">
            <a:avLst/>
          </a:prstGeom>
          <a:solidFill>
            <a:srgbClr val="12A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726"/>
          <p:cNvSpPr/>
          <p:nvPr/>
        </p:nvSpPr>
        <p:spPr>
          <a:xfrm>
            <a:off x="7234237" y="5691187"/>
            <a:ext cx="1143000" cy="1619250"/>
          </a:xfrm>
          <a:prstGeom prst="rect">
            <a:avLst/>
          </a:prstGeom>
          <a:solidFill>
            <a:srgbClr val="12A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rawio2pptx:connector:727"/>
          <p:cNvCxnSpPr/>
          <p:nvPr/>
        </p:nvCxnSpPr>
        <p:spPr>
          <a:xfrm flipV="1">
            <a:off x="947737" y="2738437"/>
            <a:ext cx="0" cy="4572000"/>
          </a:xfrm>
          <a:prstGeom prst="line">
            <a:avLst/>
          </a:prstGeom>
          <a:ln w="285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rawio2pptx:shape:728"/>
          <p:cNvSpPr/>
          <p:nvPr/>
        </p:nvSpPr>
        <p:spPr>
          <a:xfrm>
            <a:off x="1519237" y="4833937"/>
            <a:ext cx="1143000" cy="1238250"/>
          </a:xfrm>
          <a:prstGeom prst="rect">
            <a:avLst/>
          </a:prstGeom>
          <a:solidFill>
            <a:srgbClr val="F08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rawio2pptx:shape:729"/>
          <p:cNvSpPr/>
          <p:nvPr/>
        </p:nvSpPr>
        <p:spPr>
          <a:xfrm>
            <a:off x="1519237" y="3595687"/>
            <a:ext cx="1143000" cy="1238250"/>
          </a:xfrm>
          <a:prstGeom prst="rect">
            <a:avLst/>
          </a:prstGeom>
          <a:solidFill>
            <a:srgbClr val="E85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rawio2pptx:shape:730"/>
          <p:cNvSpPr/>
          <p:nvPr/>
        </p:nvSpPr>
        <p:spPr>
          <a:xfrm>
            <a:off x="3424237" y="5310187"/>
            <a:ext cx="1143000" cy="1523999"/>
          </a:xfrm>
          <a:prstGeom prst="rect">
            <a:avLst/>
          </a:prstGeom>
          <a:solidFill>
            <a:srgbClr val="F08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rawio2pptx:shape:731"/>
          <p:cNvSpPr/>
          <p:nvPr/>
        </p:nvSpPr>
        <p:spPr>
          <a:xfrm>
            <a:off x="3424237" y="5024437"/>
            <a:ext cx="1143000" cy="285750"/>
          </a:xfrm>
          <a:prstGeom prst="rect">
            <a:avLst/>
          </a:prstGeom>
          <a:solidFill>
            <a:srgbClr val="E85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rawio2pptx:shape:732"/>
          <p:cNvSpPr/>
          <p:nvPr/>
        </p:nvSpPr>
        <p:spPr>
          <a:xfrm>
            <a:off x="5329237" y="4833937"/>
            <a:ext cx="1143000" cy="1524000"/>
          </a:xfrm>
          <a:prstGeom prst="rect">
            <a:avLst/>
          </a:prstGeom>
          <a:solidFill>
            <a:srgbClr val="F08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rawio2pptx:shape:733"/>
          <p:cNvSpPr/>
          <p:nvPr/>
        </p:nvSpPr>
        <p:spPr>
          <a:xfrm>
            <a:off x="5329237" y="3119437"/>
            <a:ext cx="1143000" cy="1714500"/>
          </a:xfrm>
          <a:prstGeom prst="rect">
            <a:avLst/>
          </a:prstGeom>
          <a:solidFill>
            <a:srgbClr val="E85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drawio2pptx:connector:734"/>
          <p:cNvCxnSpPr/>
          <p:nvPr/>
        </p:nvCxnSpPr>
        <p:spPr>
          <a:xfrm>
            <a:off x="947737" y="7310437"/>
            <a:ext cx="8763000" cy="0"/>
          </a:xfrm>
          <a:prstGeom prst="line">
            <a:avLst/>
          </a:prstGeom>
          <a:ln w="285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rawio2pptx:shape:735"/>
          <p:cNvSpPr/>
          <p:nvPr/>
        </p:nvSpPr>
        <p:spPr>
          <a:xfrm>
            <a:off x="9805987" y="7196137"/>
            <a:ext cx="76200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-47625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000000"/>
                </a:solidFill>
                <a:latin typeface="Helvetica"/>
              </a:rPr>
              <a:t>Parameter x</a:t>
            </a:r>
          </a:p>
        </p:txBody>
      </p:sp>
      <p:sp>
        <p:nvSpPr>
          <p:cNvPr id="15" name="drawio2pptx:shape:736"/>
          <p:cNvSpPr/>
          <p:nvPr/>
        </p:nvSpPr>
        <p:spPr>
          <a:xfrm>
            <a:off x="1519237" y="7329487"/>
            <a:ext cx="11430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-47625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000000"/>
                </a:solidFill>
                <a:latin typeface="Helvetica"/>
              </a:rPr>
              <a:t>x1</a:t>
            </a:r>
          </a:p>
        </p:txBody>
      </p:sp>
      <p:sp>
        <p:nvSpPr>
          <p:cNvPr id="16" name="drawio2pptx:shape:737"/>
          <p:cNvSpPr/>
          <p:nvPr/>
        </p:nvSpPr>
        <p:spPr>
          <a:xfrm>
            <a:off x="3424237" y="7329487"/>
            <a:ext cx="11430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-47625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000000"/>
                </a:solidFill>
                <a:latin typeface="Helvetica"/>
              </a:rPr>
              <a:t>x2</a:t>
            </a:r>
          </a:p>
        </p:txBody>
      </p:sp>
      <p:sp>
        <p:nvSpPr>
          <p:cNvPr id="17" name="drawio2pptx:shape:738"/>
          <p:cNvSpPr/>
          <p:nvPr/>
        </p:nvSpPr>
        <p:spPr>
          <a:xfrm>
            <a:off x="5329237" y="7329487"/>
            <a:ext cx="11430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-47625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000000"/>
                </a:solidFill>
                <a:latin typeface="Helvetica"/>
              </a:rPr>
              <a:t>x3</a:t>
            </a:r>
          </a:p>
        </p:txBody>
      </p:sp>
      <p:sp>
        <p:nvSpPr>
          <p:cNvPr id="18" name="drawio2pptx:shape:739"/>
          <p:cNvSpPr/>
          <p:nvPr/>
        </p:nvSpPr>
        <p:spPr>
          <a:xfrm>
            <a:off x="8758237" y="1595437"/>
            <a:ext cx="333375" cy="285750"/>
          </a:xfrm>
          <a:prstGeom prst="rect">
            <a:avLst/>
          </a:prstGeom>
          <a:solidFill>
            <a:srgbClr val="12A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rawio2pptx:shape:740"/>
          <p:cNvSpPr/>
          <p:nvPr/>
        </p:nvSpPr>
        <p:spPr>
          <a:xfrm>
            <a:off x="8758237" y="1214437"/>
            <a:ext cx="333375" cy="285750"/>
          </a:xfrm>
          <a:prstGeom prst="rect">
            <a:avLst/>
          </a:prstGeom>
          <a:solidFill>
            <a:srgbClr val="F08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rawio2pptx:shape:741"/>
          <p:cNvSpPr/>
          <p:nvPr/>
        </p:nvSpPr>
        <p:spPr>
          <a:xfrm>
            <a:off x="8758237" y="833437"/>
            <a:ext cx="333375" cy="285750"/>
          </a:xfrm>
          <a:prstGeom prst="rect">
            <a:avLst/>
          </a:prstGeom>
          <a:solidFill>
            <a:srgbClr val="E85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rawio2pptx:shape:742"/>
          <p:cNvSpPr/>
          <p:nvPr/>
        </p:nvSpPr>
        <p:spPr>
          <a:xfrm>
            <a:off x="9139237" y="881062"/>
            <a:ext cx="76200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-47625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000000"/>
                </a:solidFill>
                <a:latin typeface="Helvetica"/>
              </a:rPr>
              <a:t>Type 1</a:t>
            </a:r>
          </a:p>
        </p:txBody>
      </p:sp>
      <p:sp>
        <p:nvSpPr>
          <p:cNvPr id="22" name="drawio2pptx:shape:743"/>
          <p:cNvSpPr/>
          <p:nvPr/>
        </p:nvSpPr>
        <p:spPr>
          <a:xfrm>
            <a:off x="9139237" y="1262062"/>
            <a:ext cx="76200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-47625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000000"/>
                </a:solidFill>
                <a:latin typeface="Helvetica"/>
              </a:rPr>
              <a:t>Type 2</a:t>
            </a:r>
          </a:p>
        </p:txBody>
      </p:sp>
      <p:sp>
        <p:nvSpPr>
          <p:cNvPr id="23" name="drawio2pptx:shape:744"/>
          <p:cNvSpPr/>
          <p:nvPr/>
        </p:nvSpPr>
        <p:spPr>
          <a:xfrm>
            <a:off x="9139237" y="1643062"/>
            <a:ext cx="76200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-47625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000000"/>
                </a:solidFill>
                <a:latin typeface="Helvetica"/>
              </a:rPr>
              <a:t>Type 3</a:t>
            </a:r>
          </a:p>
        </p:txBody>
      </p:sp>
      <p:sp>
        <p:nvSpPr>
          <p:cNvPr id="24" name="drawio2pptx:shape:745"/>
          <p:cNvSpPr/>
          <p:nvPr/>
        </p:nvSpPr>
        <p:spPr>
          <a:xfrm>
            <a:off x="566737" y="2462212"/>
            <a:ext cx="76200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-47625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000000"/>
                </a:solidFill>
                <a:latin typeface="Helvetica"/>
              </a:rPr>
              <a:t>Parameter y</a:t>
            </a:r>
          </a:p>
        </p:txBody>
      </p:sp>
      <p:sp>
        <p:nvSpPr>
          <p:cNvPr id="25" name="drawio2pptx:shape:746"/>
          <p:cNvSpPr/>
          <p:nvPr/>
        </p:nvSpPr>
        <p:spPr>
          <a:xfrm>
            <a:off x="642937" y="6072187"/>
            <a:ext cx="285750" cy="12382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-47625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000000"/>
                </a:solidFill>
                <a:latin typeface="Helvetica"/>
              </a:rPr>
              <a:t>y1</a:t>
            </a:r>
          </a:p>
        </p:txBody>
      </p:sp>
      <p:sp>
        <p:nvSpPr>
          <p:cNvPr id="26" name="drawio2pptx:shape:747"/>
          <p:cNvSpPr/>
          <p:nvPr/>
        </p:nvSpPr>
        <p:spPr>
          <a:xfrm>
            <a:off x="642937" y="4833937"/>
            <a:ext cx="285750" cy="12382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-47625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000000"/>
                </a:solidFill>
                <a:latin typeface="Helvetica"/>
              </a:rPr>
              <a:t>y2</a:t>
            </a:r>
          </a:p>
        </p:txBody>
      </p:sp>
      <p:sp>
        <p:nvSpPr>
          <p:cNvPr id="27" name="drawio2pptx:shape:748"/>
          <p:cNvSpPr/>
          <p:nvPr/>
        </p:nvSpPr>
        <p:spPr>
          <a:xfrm>
            <a:off x="642937" y="3595687"/>
            <a:ext cx="285750" cy="12382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-47625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000000"/>
                </a:solidFill>
                <a:latin typeface="Helvetica"/>
              </a:rPr>
              <a:t>y3</a:t>
            </a:r>
          </a:p>
        </p:txBody>
      </p:sp>
      <p:sp>
        <p:nvSpPr>
          <p:cNvPr id="28" name="drawio2pptx:shape:749"/>
          <p:cNvSpPr/>
          <p:nvPr/>
        </p:nvSpPr>
        <p:spPr>
          <a:xfrm>
            <a:off x="947737" y="261937"/>
            <a:ext cx="7715250" cy="428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-47625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1" i="0" u="none">
                <a:solidFill>
                  <a:srgbClr val="000000"/>
                </a:solidFill>
                <a:latin typeface="Helvetica"/>
              </a:rPr>
              <a:t>Diagram title</a:t>
            </a:r>
          </a:p>
        </p:txBody>
      </p:sp>
      <p:sp>
        <p:nvSpPr>
          <p:cNvPr id="29" name="drawio2pptx:shape:750"/>
          <p:cNvSpPr/>
          <p:nvPr/>
        </p:nvSpPr>
        <p:spPr>
          <a:xfrm>
            <a:off x="7234237" y="5214937"/>
            <a:ext cx="1143000" cy="476250"/>
          </a:xfrm>
          <a:prstGeom prst="rect">
            <a:avLst/>
          </a:prstGeom>
          <a:solidFill>
            <a:srgbClr val="F08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rawio2pptx:shape:751"/>
          <p:cNvSpPr/>
          <p:nvPr/>
        </p:nvSpPr>
        <p:spPr>
          <a:xfrm>
            <a:off x="7234237" y="4167187"/>
            <a:ext cx="1143000" cy="1047750"/>
          </a:xfrm>
          <a:prstGeom prst="rect">
            <a:avLst/>
          </a:prstGeom>
          <a:solidFill>
            <a:srgbClr val="E85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rawio2pptx:shape:752"/>
          <p:cNvSpPr/>
          <p:nvPr/>
        </p:nvSpPr>
        <p:spPr>
          <a:xfrm>
            <a:off x="7234237" y="7329487"/>
            <a:ext cx="11430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-47625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000000"/>
                </a:solidFill>
                <a:latin typeface="Helvetica"/>
              </a:rPr>
              <a:t>x4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