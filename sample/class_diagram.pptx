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34500" cy="6572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zkfFHV4jXpPFQw0GAbJ--0"/>
          <p:cNvSpPr/>
          <p:nvPr/>
        </p:nvSpPr>
        <p:spPr>
          <a:xfrm>
            <a:off x="2095500" y="1143000"/>
            <a:ext cx="1524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106680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000000"/>
                </a:solidFill>
                <a:latin typeface="Helvetica"/>
              </a:rPr>
              <a:t>Person</a:t>
            </a:r>
          </a:p>
        </p:txBody>
      </p:sp>
      <p:cxnSp>
        <p:nvCxnSpPr>
          <p:cNvPr id="3" name="drawio2pptx:swimlane-divider:zkfFHV4jXpPFQw0GAbJ--0"/>
          <p:cNvCxnSpPr/>
          <p:nvPr/>
        </p:nvCxnSpPr>
        <p:spPr>
          <a:xfrm>
            <a:off x="2095500" y="139065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rawio2pptx:shape:zkfFHV4jXpPFQw0GAbJ--6"/>
          <p:cNvSpPr/>
          <p:nvPr/>
        </p:nvSpPr>
        <p:spPr>
          <a:xfrm>
            <a:off x="1143000" y="3429000"/>
            <a:ext cx="1524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106680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Student</a:t>
            </a:r>
          </a:p>
        </p:txBody>
      </p:sp>
      <p:cxnSp>
        <p:nvCxnSpPr>
          <p:cNvPr id="5" name="drawio2pptx:swimlane-divider:zkfFHV4jXpPFQw0GAbJ--6"/>
          <p:cNvCxnSpPr/>
          <p:nvPr/>
        </p:nvCxnSpPr>
        <p:spPr>
          <a:xfrm>
            <a:off x="1143000" y="367665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rawio2pptx:shape:zkfFHV4jXpPFQw0GAbJ--13"/>
          <p:cNvSpPr/>
          <p:nvPr/>
        </p:nvSpPr>
        <p:spPr>
          <a:xfrm>
            <a:off x="3143250" y="3429000"/>
            <a:ext cx="1524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41910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Professor</a:t>
            </a:r>
          </a:p>
        </p:txBody>
      </p:sp>
      <p:cxnSp>
        <p:nvCxnSpPr>
          <p:cNvPr id="7" name="drawio2pptx:swimlane-divider:zkfFHV4jXpPFQw0GAbJ--13"/>
          <p:cNvCxnSpPr/>
          <p:nvPr/>
        </p:nvCxnSpPr>
        <p:spPr>
          <a:xfrm>
            <a:off x="3143250" y="367665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rawio2pptx:shape:zkfFHV4jXpPFQw0GAbJ--17"/>
          <p:cNvSpPr/>
          <p:nvPr/>
        </p:nvSpPr>
        <p:spPr>
          <a:xfrm>
            <a:off x="4838700" y="1143000"/>
            <a:ext cx="15240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180975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Address</a:t>
            </a:r>
          </a:p>
        </p:txBody>
      </p:sp>
      <p:cxnSp>
        <p:nvCxnSpPr>
          <p:cNvPr id="9" name="drawio2pptx:swimlane-divider:zkfFHV4jXpPFQw0GAbJ--17"/>
          <p:cNvCxnSpPr/>
          <p:nvPr/>
        </p:nvCxnSpPr>
        <p:spPr>
          <a:xfrm>
            <a:off x="4838700" y="139065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rawio2pptx:shape:zkfFHV4jXpPFQw0GAbJ--1"/>
          <p:cNvSpPr/>
          <p:nvPr/>
        </p:nvSpPr>
        <p:spPr>
          <a:xfrm>
            <a:off x="2095500" y="13906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Name</a:t>
            </a:r>
          </a:p>
        </p:txBody>
      </p:sp>
      <p:sp>
        <p:nvSpPr>
          <p:cNvPr id="11" name="drawio2pptx:shape:zkfFHV4jXpPFQw0GAbJ--2"/>
          <p:cNvSpPr/>
          <p:nvPr/>
        </p:nvSpPr>
        <p:spPr>
          <a:xfrm>
            <a:off x="2095500" y="16383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Phone Number</a:t>
            </a:r>
          </a:p>
        </p:txBody>
      </p:sp>
      <p:sp>
        <p:nvSpPr>
          <p:cNvPr id="12" name="drawio2pptx:shape:zkfFHV4jXpPFQw0GAbJ--3"/>
          <p:cNvSpPr/>
          <p:nvPr/>
        </p:nvSpPr>
        <p:spPr>
          <a:xfrm>
            <a:off x="2095500" y="18859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Email Address</a:t>
            </a:r>
          </a:p>
        </p:txBody>
      </p:sp>
      <p:cxnSp>
        <p:nvCxnSpPr>
          <p:cNvPr id="13" name="drawio2pptx:line:zkfFHV4jXpPFQw0GAbJ--4"/>
          <p:cNvCxnSpPr/>
          <p:nvPr/>
        </p:nvCxnSpPr>
        <p:spPr>
          <a:xfrm>
            <a:off x="2095500" y="217170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rawio2pptx:shape:zkfFHV4jXpPFQw0GAbJ--5"/>
          <p:cNvSpPr/>
          <p:nvPr/>
        </p:nvSpPr>
        <p:spPr>
          <a:xfrm>
            <a:off x="2095500" y="22098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Purchase Parking Pass</a:t>
            </a:r>
          </a:p>
        </p:txBody>
      </p:sp>
      <p:sp>
        <p:nvSpPr>
          <p:cNvPr id="15" name="drawio2pptx:shape:zkfFHV4jXpPFQw0GAbJ--7"/>
          <p:cNvSpPr/>
          <p:nvPr/>
        </p:nvSpPr>
        <p:spPr>
          <a:xfrm>
            <a:off x="1143000" y="36766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Student Number</a:t>
            </a:r>
          </a:p>
        </p:txBody>
      </p:sp>
      <p:sp>
        <p:nvSpPr>
          <p:cNvPr id="16" name="drawio2pptx:shape:zkfFHV4jXpPFQw0GAbJ--8"/>
          <p:cNvSpPr/>
          <p:nvPr/>
        </p:nvSpPr>
        <p:spPr>
          <a:xfrm>
            <a:off x="1143000" y="39243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Average Mark</a:t>
            </a:r>
          </a:p>
        </p:txBody>
      </p:sp>
      <p:cxnSp>
        <p:nvCxnSpPr>
          <p:cNvPr id="17" name="drawio2pptx:line:zkfFHV4jXpPFQw0GAbJ--9"/>
          <p:cNvCxnSpPr/>
          <p:nvPr/>
        </p:nvCxnSpPr>
        <p:spPr>
          <a:xfrm>
            <a:off x="1143000" y="421005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rawio2pptx:shape:zkfFHV4jXpPFQw0GAbJ--10"/>
          <p:cNvSpPr/>
          <p:nvPr/>
        </p:nvSpPr>
        <p:spPr>
          <a:xfrm>
            <a:off x="1143000" y="42481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sng">
                <a:solidFill>
                  <a:srgbClr val="000000"/>
                </a:solidFill>
                <a:latin typeface="Helvetica"/>
              </a:rPr>
              <a:t>Is Eligible To Enroll</a:t>
            </a:r>
          </a:p>
        </p:txBody>
      </p:sp>
      <p:sp>
        <p:nvSpPr>
          <p:cNvPr id="19" name="drawio2pptx:shape:zkfFHV4jXpPFQw0GAbJ--11"/>
          <p:cNvSpPr/>
          <p:nvPr/>
        </p:nvSpPr>
        <p:spPr>
          <a:xfrm>
            <a:off x="1143000" y="44958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Get Seminars Taken</a:t>
            </a:r>
          </a:p>
        </p:txBody>
      </p:sp>
      <p:sp>
        <p:nvSpPr>
          <p:cNvPr id="20" name="drawio2pptx:connector:zkfFHV4jXpPFQw0GAbJ--12"/>
          <p:cNvSpPr/>
          <p:nvPr/>
        </p:nvSpPr>
        <p:spPr>
          <a:xfrm>
            <a:off x="1905000" y="2457450"/>
            <a:ext cx="952500" cy="971550"/>
          </a:xfrm>
          <a:custGeom>
            <a:avLst/>
            <a:gdLst/>
            <a:ahLst/>
            <a:cxnLst/>
            <a:rect l="l" t="t" r="r" b="b"/>
            <a:pathLst>
              <a:path w="952500" h="971550">
                <a:moveTo>
                  <a:pt x="0" y="971550"/>
                </a:moveTo>
                <a:lnTo>
                  <a:pt x="0" y="495300"/>
                </a:lnTo>
                <a:lnTo>
                  <a:pt x="952500" y="495300"/>
                </a:lnTo>
                <a:lnTo>
                  <a:pt x="95250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zkfFHV4jXpPFQw0GAbJ--14"/>
          <p:cNvSpPr/>
          <p:nvPr/>
        </p:nvSpPr>
        <p:spPr>
          <a:xfrm>
            <a:off x="3143250" y="36766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Salary</a:t>
            </a:r>
          </a:p>
        </p:txBody>
      </p:sp>
      <p:cxnSp>
        <p:nvCxnSpPr>
          <p:cNvPr id="22" name="drawio2pptx:line:zkfFHV4jXpPFQw0GAbJ--15"/>
          <p:cNvCxnSpPr/>
          <p:nvPr/>
        </p:nvCxnSpPr>
        <p:spPr>
          <a:xfrm>
            <a:off x="3143250" y="396240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rawio2pptx:connector:zkfFHV4jXpPFQw0GAbJ--16"/>
          <p:cNvSpPr/>
          <p:nvPr/>
        </p:nvSpPr>
        <p:spPr>
          <a:xfrm>
            <a:off x="2857500" y="2457450"/>
            <a:ext cx="1047750" cy="971550"/>
          </a:xfrm>
          <a:custGeom>
            <a:avLst/>
            <a:gdLst/>
            <a:ahLst/>
            <a:cxnLst/>
            <a:rect l="l" t="t" r="r" b="b"/>
            <a:pathLst>
              <a:path w="1047750" h="971550">
                <a:moveTo>
                  <a:pt x="1047750" y="971550"/>
                </a:moveTo>
                <a:lnTo>
                  <a:pt x="1047750" y="495300"/>
                </a:lnTo>
                <a:lnTo>
                  <a:pt x="0" y="49530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rawio2pptx:shape:zkfFHV4jXpPFQw0GAbJ--18"/>
          <p:cNvSpPr/>
          <p:nvPr/>
        </p:nvSpPr>
        <p:spPr>
          <a:xfrm>
            <a:off x="4838700" y="13906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Street</a:t>
            </a:r>
          </a:p>
        </p:txBody>
      </p:sp>
      <p:sp>
        <p:nvSpPr>
          <p:cNvPr id="25" name="drawio2pptx:shape:zkfFHV4jXpPFQw0GAbJ--19"/>
          <p:cNvSpPr/>
          <p:nvPr/>
        </p:nvSpPr>
        <p:spPr>
          <a:xfrm>
            <a:off x="4838700" y="16383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City</a:t>
            </a:r>
          </a:p>
        </p:txBody>
      </p:sp>
      <p:sp>
        <p:nvSpPr>
          <p:cNvPr id="26" name="drawio2pptx:shape:zkfFHV4jXpPFQw0GAbJ--20"/>
          <p:cNvSpPr/>
          <p:nvPr/>
        </p:nvSpPr>
        <p:spPr>
          <a:xfrm>
            <a:off x="4838700" y="18859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State</a:t>
            </a:r>
          </a:p>
        </p:txBody>
      </p:sp>
      <p:sp>
        <p:nvSpPr>
          <p:cNvPr id="27" name="drawio2pptx:shape:zkfFHV4jXpPFQw0GAbJ--21"/>
          <p:cNvSpPr/>
          <p:nvPr/>
        </p:nvSpPr>
        <p:spPr>
          <a:xfrm>
            <a:off x="4838700" y="21336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Postal Code</a:t>
            </a:r>
          </a:p>
        </p:txBody>
      </p:sp>
      <p:sp>
        <p:nvSpPr>
          <p:cNvPr id="28" name="drawio2pptx:shape:zkfFHV4jXpPFQw0GAbJ--22"/>
          <p:cNvSpPr/>
          <p:nvPr/>
        </p:nvSpPr>
        <p:spPr>
          <a:xfrm>
            <a:off x="4838700" y="23812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Country</a:t>
            </a:r>
          </a:p>
        </p:txBody>
      </p:sp>
      <p:cxnSp>
        <p:nvCxnSpPr>
          <p:cNvPr id="29" name="drawio2pptx:line:zkfFHV4jXpPFQw0GAbJ--23"/>
          <p:cNvCxnSpPr/>
          <p:nvPr/>
        </p:nvCxnSpPr>
        <p:spPr>
          <a:xfrm>
            <a:off x="4838700" y="2667000"/>
            <a:ext cx="15240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rawio2pptx:shape:zkfFHV4jXpPFQw0GAbJ--24"/>
          <p:cNvSpPr/>
          <p:nvPr/>
        </p:nvSpPr>
        <p:spPr>
          <a:xfrm>
            <a:off x="4838700" y="270510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Validate</a:t>
            </a:r>
          </a:p>
        </p:txBody>
      </p:sp>
      <p:sp>
        <p:nvSpPr>
          <p:cNvPr id="31" name="drawio2pptx:shape:zkfFHV4jXpPFQw0GAbJ--25"/>
          <p:cNvSpPr/>
          <p:nvPr/>
        </p:nvSpPr>
        <p:spPr>
          <a:xfrm>
            <a:off x="4838700" y="2952750"/>
            <a:ext cx="1524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38100" bIns="0" rIns="381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Output As Label</a:t>
            </a:r>
          </a:p>
        </p:txBody>
      </p:sp>
      <p:cxnSp>
        <p:nvCxnSpPr>
          <p:cNvPr id="32" name="drawio2pptx:connector:zkfFHV4jXpPFQw0GAbJ--26"/>
          <p:cNvCxnSpPr/>
          <p:nvPr/>
        </p:nvCxnSpPr>
        <p:spPr>
          <a:xfrm>
            <a:off x="3619500" y="1828800"/>
            <a:ext cx="1219200" cy="0"/>
          </a:xfrm>
          <a:prstGeom prst="line">
            <a:avLst/>
          </a:prstGeom>
          <a:ln w="9525">
            <a:solidFill>
              <a:srgbClr val="00000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67125" y="1706880"/>
            <a:ext cx="342900" cy="160019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0..1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0575" y="1706880"/>
            <a:ext cx="171450" cy="160019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b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3340" y="1663065"/>
            <a:ext cx="617220" cy="160019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lives 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