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334500" cy="6572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WIyWlLk6GJQsqaUBKTNV-3"/>
          <p:cNvSpPr/>
          <p:nvPr/>
        </p:nvSpPr>
        <p:spPr>
          <a:xfrm>
            <a:off x="1524000" y="762000"/>
            <a:ext cx="1143000" cy="38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Lamp doesn't work</a:t>
            </a:r>
          </a:p>
        </p:txBody>
      </p:sp>
      <p:sp>
        <p:nvSpPr>
          <p:cNvPr id="3" name="drawio2pptx:shape:WIyWlLk6GJQsqaUBKTNV-6"/>
          <p:cNvSpPr/>
          <p:nvPr/>
        </p:nvSpPr>
        <p:spPr>
          <a:xfrm>
            <a:off x="1619250" y="1619250"/>
            <a:ext cx="952500" cy="762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-3810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Lamp</a:t>
            </a:r>
            <a:r>
              <a:rPr sz="900" b="0" i="0" u="none">
                <a:solidFill>
                  <a:srgbClr val="000000"/>
                </a:solidFill>
                <a:latin typeface="Helvetica"/>
              </a:rPr>
              <a:t>plugged in?</a:t>
            </a:r>
          </a:p>
        </p:txBody>
      </p:sp>
      <p:sp>
        <p:nvSpPr>
          <p:cNvPr id="4" name="drawio2pptx:shape:WIyWlLk6GJQsqaUBKTNV-7"/>
          <p:cNvSpPr/>
          <p:nvPr/>
        </p:nvSpPr>
        <p:spPr>
          <a:xfrm>
            <a:off x="3048000" y="1809750"/>
            <a:ext cx="1143000" cy="38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Plug in lamp</a:t>
            </a:r>
          </a:p>
        </p:txBody>
      </p:sp>
      <p:cxnSp>
        <p:nvCxnSpPr>
          <p:cNvPr id="5" name="drawio2pptx:connector:Ju__AZojh3uoqunJGSlX-1"/>
          <p:cNvCxnSpPr/>
          <p:nvPr/>
        </p:nvCxnSpPr>
        <p:spPr>
          <a:xfrm>
            <a:off x="2095500" y="1143000"/>
            <a:ext cx="0" cy="47625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rawio2pptx:connector:WIyWlLk6GJQsqaUBKTNV-5"/>
          <p:cNvCxnSpPr/>
          <p:nvPr/>
        </p:nvCxnSpPr>
        <p:spPr>
          <a:xfrm>
            <a:off x="2571750" y="2000250"/>
            <a:ext cx="47625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15577" y="1831657"/>
            <a:ext cx="188594" cy="146685"/>
          </a:xfrm>
          <a:prstGeom prst="rect">
            <a:avLst/>
          </a:prstGeom>
          <a:noFill/>
          <a:ln>
            <a:noFill/>
          </a:ln>
        </p:spPr>
        <p:txBody>
          <a:bodyPr wrap="none" tIns="0" lIns="0" bIns="0" r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000000"/>
                </a:solidFill>
                <a:latin typeface="Helvetica"/>
              </a:rPr>
              <a:t>No</a:t>
            </a:r>
          </a:p>
        </p:txBody>
      </p:sp>
      <p:sp>
        <p:nvSpPr>
          <p:cNvPr id="8" name="drawio2pptx:shape:WIyWlLk6GJQsqaUBKTNV-10"/>
          <p:cNvSpPr/>
          <p:nvPr/>
        </p:nvSpPr>
        <p:spPr>
          <a:xfrm>
            <a:off x="1619250" y="2762250"/>
            <a:ext cx="952500" cy="7620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-3810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Bulb</a:t>
            </a:r>
            <a:r>
              <a:rPr sz="900" b="0" i="0" u="none">
                <a:solidFill>
                  <a:srgbClr val="000000"/>
                </a:solidFill>
                <a:latin typeface="Helvetica"/>
              </a:rPr>
              <a:t>burned out?</a:t>
            </a:r>
          </a:p>
        </p:txBody>
      </p:sp>
      <p:sp>
        <p:nvSpPr>
          <p:cNvPr id="9" name="drawio2pptx:shape:WIyWlLk6GJQsqaUBKTNV-11"/>
          <p:cNvSpPr/>
          <p:nvPr/>
        </p:nvSpPr>
        <p:spPr>
          <a:xfrm>
            <a:off x="1524000" y="4095750"/>
            <a:ext cx="1143000" cy="38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Repair Lamp</a:t>
            </a:r>
          </a:p>
        </p:txBody>
      </p:sp>
      <p:cxnSp>
        <p:nvCxnSpPr>
          <p:cNvPr id="10" name="drawio2pptx:connector:WIyWlLk6GJQsqaUBKTNV-4"/>
          <p:cNvCxnSpPr/>
          <p:nvPr/>
        </p:nvCxnSpPr>
        <p:spPr>
          <a:xfrm>
            <a:off x="2095500" y="2381250"/>
            <a:ext cx="0" cy="3810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60270" y="2498407"/>
            <a:ext cx="251460" cy="146685"/>
          </a:xfrm>
          <a:prstGeom prst="rect">
            <a:avLst/>
          </a:prstGeom>
          <a:noFill/>
          <a:ln>
            <a:noFill/>
          </a:ln>
        </p:spPr>
        <p:txBody>
          <a:bodyPr wrap="none" tIns="0" lIns="0" bIns="0" r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000000"/>
                </a:solidFill>
                <a:latin typeface="Helvetica"/>
              </a:rPr>
              <a:t>Yes</a:t>
            </a:r>
          </a:p>
        </p:txBody>
      </p:sp>
      <p:sp>
        <p:nvSpPr>
          <p:cNvPr id="12" name="drawio2pptx:shape:WIyWlLk6GJQsqaUBKTNV-12"/>
          <p:cNvSpPr/>
          <p:nvPr/>
        </p:nvSpPr>
        <p:spPr>
          <a:xfrm>
            <a:off x="3048000" y="2952750"/>
            <a:ext cx="1143000" cy="38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000000"/>
                </a:solidFill>
                <a:latin typeface="Helvetica"/>
              </a:rPr>
              <a:t>Replace Bulb</a:t>
            </a:r>
          </a:p>
        </p:txBody>
      </p:sp>
      <p:cxnSp>
        <p:nvCxnSpPr>
          <p:cNvPr id="13" name="drawio2pptx:connector:WIyWlLk6GJQsqaUBKTNV-8"/>
          <p:cNvCxnSpPr/>
          <p:nvPr/>
        </p:nvCxnSpPr>
        <p:spPr>
          <a:xfrm>
            <a:off x="2095500" y="3524250"/>
            <a:ext cx="0" cy="57150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91702" y="3831897"/>
            <a:ext cx="188594" cy="146685"/>
          </a:xfrm>
          <a:prstGeom prst="rect">
            <a:avLst/>
          </a:prstGeom>
          <a:noFill/>
          <a:ln>
            <a:noFill/>
          </a:ln>
        </p:spPr>
        <p:txBody>
          <a:bodyPr wrap="none" tIns="0" lIns="0" bIns="0" r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000000"/>
                </a:solidFill>
                <a:latin typeface="Helvetica"/>
              </a:rPr>
              <a:t>No</a:t>
            </a:r>
          </a:p>
        </p:txBody>
      </p:sp>
      <p:cxnSp>
        <p:nvCxnSpPr>
          <p:cNvPr id="15" name="drawio2pptx:connector:WIyWlLk6GJQsqaUBKTNV-9"/>
          <p:cNvCxnSpPr/>
          <p:nvPr/>
        </p:nvCxnSpPr>
        <p:spPr>
          <a:xfrm>
            <a:off x="2571750" y="3143250"/>
            <a:ext cx="476250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84145" y="2974657"/>
            <a:ext cx="251460" cy="146685"/>
          </a:xfrm>
          <a:prstGeom prst="rect">
            <a:avLst/>
          </a:prstGeom>
          <a:noFill/>
          <a:ln>
            <a:noFill/>
          </a:ln>
        </p:spPr>
        <p:txBody>
          <a:bodyPr wrap="none" tIns="0" lIns="0" bIns="0" r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000000"/>
                </a:solidFill>
                <a:latin typeface="Helvetica"/>
              </a:rPr>
              <a:t>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